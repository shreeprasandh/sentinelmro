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91440" cy="20116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SENTINELMRO</a:t>
            </a:r>
          </a:p>
          <a:p>
            <a:pPr>
              <a:spcBef>
                <a:spcPts val="800"/>
              </a:spcBef>
              <a:defRPr sz="1600">
                <a:solidFill>
                  <a:srgbClr val="14B8A6"/>
                </a:solidFill>
                <a:latin typeface="Arial"/>
              </a:defRPr>
            </a:pPr>
            <a:r>
              <a:t>Decentralized Edge-AI Diagnostics &amp; Immutable Cryptographic Audit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CA3AF"/>
                </a:solidFill>
              </a:defRPr>
            </a:pPr>
            <a:r>
              <a:t>Prepared for the Tata Technologies InnoVent-27 Competition (Category 3.2.3.3)</a:t>
            </a:r>
          </a:p>
          <a:p>
            <a:pPr>
              <a:spcBef>
                <a:spcPts val="400"/>
              </a:spcBef>
              <a:defRPr sz="950">
                <a:solidFill>
                  <a:srgbClr val="6B7280"/>
                </a:solidFill>
              </a:defRPr>
            </a:pPr>
            <a:r>
              <a:t>Backend: Python, PyTorch, ONNX INT8 Quantization, SQLite | Frontend: Next.js 15 App Router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Problem: Centralized Cloud PHM Deficiencies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Context &amp; Industry Pain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4B8A6"/>
                </a:solidFill>
              </a:defRPr>
            </a:pPr>
            <a:r>
              <a:t>Legacy Architecture Bottlenecks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Bandwidth &amp; Latency: </a:t>
            </a:r>
            <a:r>
              <a:rPr sz="1200">
                <a:solidFill>
                  <a:srgbClr val="D1D5DB"/>
                </a:solidFill>
                <a:latin typeface="Arial"/>
              </a:rPr>
              <a:t>Uploading gigabytes of high-frequency sensor telemetry to clouds causes latency and increases network overhead.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Proprietary Data Leakage: </a:t>
            </a:r>
            <a:r>
              <a:rPr sz="1200">
                <a:solidFill>
                  <a:srgbClr val="D1D5DB"/>
                </a:solidFill>
                <a:latin typeface="Arial"/>
              </a:rPr>
              <a:t>Airlines are highly protective of engine metrics; central uploading raises severe data security concerns.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4B8A6"/>
                </a:solidFill>
              </a:defRPr>
            </a:pPr>
            <a:r>
              <a:t>Audit &amp; Database Vulnerabilities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Retroactive Manipulation: </a:t>
            </a:r>
            <a:r>
              <a:rPr sz="1200">
                <a:solidFill>
                  <a:srgbClr val="D1D5DB"/>
                </a:solidFill>
                <a:latin typeface="Arial"/>
              </a:rPr>
              <a:t>Standard maintenance logs stored in centralized databases lack cryptographic seals, risking unauthorized tampering.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Non-IID Divergence: </a:t>
            </a:r>
            <a:r>
              <a:rPr sz="1200">
                <a:solidFill>
                  <a:srgbClr val="D1D5DB"/>
                </a:solidFill>
                <a:latin typeface="Arial"/>
              </a:rPr>
              <a:t>Operating profiles vary across MRO stations. Centralized models become biased toward nominal or high-use fleets.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Solution: SentinelMRO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Subsystem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400" b="1">
                <a:solidFill>
                  <a:srgbClr val="14B8A6"/>
                </a:solidFill>
              </a:defRPr>
            </a:pPr>
            <a:r>
              <a:t>1. Edge-AI Diagnostics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Preprocesses 14 sensor channels and regresses RUL on an INT8-quantized TCN model in under 3 milliseconds.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280160"/>
            <a:ext cx="256032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400" b="1">
                <a:solidFill>
                  <a:srgbClr val="14B8A6"/>
                </a:solidFill>
              </a:defRPr>
            </a:pPr>
            <a:r>
              <a:t>2. Privacy Federated Learning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Executes cross-station FedProx local updates and aggregates gradients with Local Differential Privacy (LDP) perturbations.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280160"/>
            <a:ext cx="256032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1000"/>
              </a:spcAft>
              <a:defRPr sz="1400" b="1">
                <a:solidFill>
                  <a:srgbClr val="14B8A6"/>
                </a:solidFill>
              </a:defRPr>
            </a:pPr>
            <a:r>
              <a:t>3. Cryptographic MMR Ledger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Validates Ed25519 edge signatures and logs events to an append-only Merkle Mountain Range database in SQLite.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Phase 1: Quantized Causal TCN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Edge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Data Sanitization: </a:t>
            </a:r>
            <a:r>
              <a:rPr sz="1200">
                <a:solidFill>
                  <a:srgbClr val="D1D5DB"/>
                </a:solidFill>
                <a:latin typeface="Arial"/>
              </a:rPr>
              <a:t>Strips out 7 zero-variance constant sensor channels. Fits localized MinMaxScaler within a strict [0, 1] bounds.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Temporal Convolutional Network: </a:t>
            </a:r>
            <a:r>
              <a:rPr sz="1200">
                <a:solidFill>
                  <a:srgbClr val="D1D5DB"/>
                </a:solidFill>
                <a:latin typeface="Arial"/>
              </a:rPr>
              <a:t>Replaces slow LSTMs. Utilizes exponential dilations (1, 2, 4, 8) with kernel size k=3. Parallel causal convolutions ensure O(1) latency.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Dynamic INT8 Quantization: </a:t>
            </a:r>
            <a:r>
              <a:rPr sz="1200">
                <a:solidFill>
                  <a:srgbClr val="D1D5DB"/>
                </a:solidFill>
                <a:latin typeface="Arial"/>
              </a:rPr>
              <a:t>Removes training weight normalization hooks (remove_weight_norm). Quantizes ONNX weights dynamically, reducing footprint and allowing CPU execution in &lt; 3ms.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Phase 2: FedProx &amp; LDP Collaborative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Federated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Non-IID Partitioning: </a:t>
            </a:r>
            <a:r>
              <a:rPr sz="1200">
                <a:solidFill>
                  <a:srgbClr val="D1D5DB"/>
                </a:solidFill>
                <a:latin typeface="Arial"/>
              </a:rPr>
              <a:t>Splits the NASA dataset into 3 operational clusters simulating different MRO hubs: Nominal (ST-1), High-stress (ST-2), and Mixed (ST-3).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FedProx Regularization: </a:t>
            </a:r>
            <a:r>
              <a:rPr sz="1200">
                <a:solidFill>
                  <a:srgbClr val="D1D5DB"/>
                </a:solidFill>
                <a:latin typeface="Arial"/>
              </a:rPr>
              <a:t>Appends a proximal regularization penalty to local loss loops: (mu / 2) * || w - w^t ||^2. Solves data distribution mismatch and stabilizes local weight adjustments.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Local Differential Privacy: </a:t>
            </a:r>
            <a:r>
              <a:rPr sz="1200">
                <a:solidFill>
                  <a:srgbClr val="D1D5DB"/>
                </a:solidFill>
                <a:latin typeface="Arial"/>
              </a:rPr>
              <a:t>Injects calibrated Gaussian noise w_priv = w_local + N(0, 0.001^2) to parameters before gateway aggregation to protect client telemetry.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Phase 3: Cryptographic SQLite MMR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Audit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Ed25519 Payload Signing: </a:t>
            </a:r>
            <a:r>
              <a:rPr sz="1200">
                <a:solidFill>
                  <a:srgbClr val="D1D5DB"/>
                </a:solidFill>
                <a:latin typeface="Arial"/>
              </a:rPr>
              <a:t>Transactions generated at MRO edge nodes must include a signature. Verified at the gateway using station public keys, preventing spoofing.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Merkle Mountain Range (MMR): </a:t>
            </a:r>
            <a:r>
              <a:rPr sz="1200">
                <a:solidFill>
                  <a:srgbClr val="D1D5DB"/>
                </a:solidFill>
                <a:latin typeface="Arial"/>
              </a:rPr>
              <a:t>Appends nodes to a binary tree in post-order flat indexing. Enables O(log n) inclusion proofs and rapid integrity verification checks.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Tamper Detection Backdoor: </a:t>
            </a:r>
            <a:r>
              <a:rPr sz="1200">
                <a:solidFill>
                  <a:srgbClr val="D1D5DB"/>
                </a:solidFill>
                <a:latin typeface="Arial"/>
              </a:rPr>
              <a:t>Updates SQLite columns directly without re-building peaks or leaf hashes. Integrity check fails instantly on root hash mismatch, highlighting altered rows.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Phase 4: Next.js 15 Command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User Interface &amp;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Premium Dark Industrial Theme: </a:t>
            </a:r>
            <a:r>
              <a:rPr sz="1200">
                <a:solidFill>
                  <a:srgbClr val="D1D5DB"/>
                </a:solidFill>
                <a:latin typeface="Arial"/>
              </a:rPr>
              <a:t>Built on bg-zinc-950 and text-zinc-50 with responsive, sleek glassmorphism panels.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Real-time Telemetry plots: </a:t>
            </a:r>
            <a:r>
              <a:rPr sz="1200">
                <a:solidFill>
                  <a:srgbClr val="D1D5DB"/>
                </a:solidFill>
                <a:latin typeface="Arial"/>
              </a:rPr>
              <a:t>Integrates interactive Recharts line curves linking predicted TCN RUL with high-frequency core speed and bypass ratio trends.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Interactive Security Console: </a:t>
            </a:r>
            <a:r>
              <a:rPr sz="1200">
                <a:solidFill>
                  <a:srgbClr val="D1D5DB"/>
                </a:solidFill>
                <a:latin typeface="Arial"/>
              </a:rPr>
              <a:t>Features buttons to Verify Ecosystem Integrity or Simulate Malicious Database Injection. Alerts flash red dynamically on tampering validation mismatch.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Worked Trace Example: Maintenance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Ecosystem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 b="1">
                <a:solidFill>
                  <a:srgbClr val="14B8A6"/>
                </a:solidFill>
              </a:defRPr>
            </a:pPr>
            <a:r>
              <a:t>Step 1: Construct &amp; Sign Payload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- Payload: Timestamp|Component_ID|Action|Tech_ID|Health</a:t>
            </a:r>
            <a:br/>
            <a:r>
              <a:t>- Station_001 signs using private Ed25519 key</a:t>
            </a:r>
            <a:br/>
            <a:r>
              <a:t>- Payload and Signature posted to /append endpoint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400" b="1">
                <a:solidFill>
                  <a:srgbClr val="14B8A6"/>
                </a:solidFill>
              </a:defRPr>
            </a:pPr>
            <a:r>
              <a:t>Step 2: Gateway Verify &amp; Log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- Gateway checks signature with public key</a:t>
            </a:r>
            <a:br/>
            <a:r>
              <a:t>- Inserts row into SQLite mro_ledger</a:t>
            </a:r>
            <a:br/>
            <a:r>
              <a:t>- Recomputes MMR leaf hash and merges peaks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 b="1">
                <a:solidFill>
                  <a:srgbClr val="14B8A6"/>
                </a:solidFill>
              </a:defRPr>
            </a:pPr>
            <a:r>
              <a:t>Step 3: Tampering Simulation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- Intruder updates SQLite table directly</a:t>
            </a:r>
            <a:br/>
            <a:r>
              <a:t>- Leaf 1 component_id altered to 'TAMPERED-ENG'</a:t>
            </a:r>
            <a:br/>
            <a:r>
              <a:t>- Node hash &amp; MMR nodes left unchanged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400" b="1">
                <a:solidFill>
                  <a:srgbClr val="14B8A6"/>
                </a:solidFill>
              </a:defRPr>
            </a:pPr>
            <a:r>
              <a:t>Step 4: Audit Verification Alert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- Auditor re-computes Leaf 1 hash from raw columns</a:t>
            </a:r>
            <a:br/>
            <a:r>
              <a:t>- Recomputed hash mismatches stored node_hash</a:t>
            </a:r>
            <a:br/>
            <a:r>
              <a:t>- System identifies altered leaf index &amp; logs alert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Conclusion: SentinelMRO InnoVent-27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74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1">
                <a:solidFill>
                  <a:srgbClr val="818CF8"/>
                </a:solidFill>
                <a:latin typeface="Arial"/>
              </a:defRPr>
            </a:pPr>
            <a:r>
              <a:t>Competitive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Edge-AI Latency: </a:t>
            </a:r>
            <a:r>
              <a:rPr sz="1200">
                <a:solidFill>
                  <a:srgbClr val="D1D5DB"/>
                </a:solidFill>
                <a:latin typeface="Arial"/>
              </a:rPr>
              <a:t>Model compiled and quantized dynamically, performing edge prediction on CPU in under 3ms.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Federated Optimizers: </a:t>
            </a:r>
            <a:r>
              <a:rPr sz="1200">
                <a:solidFill>
                  <a:srgbClr val="D1D5DB"/>
                </a:solidFill>
                <a:latin typeface="Arial"/>
              </a:rPr>
              <a:t>FedProx regularizer penalty and LDP noise aggregation fully operational.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Audit Integrity: </a:t>
            </a:r>
            <a:r>
              <a:rPr sz="1200">
                <a:solidFill>
                  <a:srgbClr val="D1D5DB"/>
                </a:solidFill>
                <a:latin typeface="Arial"/>
              </a:rPr>
              <a:t>SQLite-backed MMR append, verify, and backdoor tampering functions fully complete.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FFFFF"/>
                </a:solidFill>
                <a:latin typeface="Arial"/>
              </a:rPr>
              <a:t>• Command Console: </a:t>
            </a:r>
            <a:r>
              <a:rPr sz="1200">
                <a:solidFill>
                  <a:srgbClr val="D1D5DB"/>
                </a:solidFill>
                <a:latin typeface="Arial"/>
              </a:rPr>
              <a:t>Next.js 15 dashboard offers high-fidelity visual control room, ready for live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