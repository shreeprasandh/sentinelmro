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280160"/>
            <a:ext cx="73152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600" b="1">
                <a:solidFill>
                  <a:srgbClr val="1E3A8A"/>
                </a:solidFill>
                <a:latin typeface="Arial"/>
              </a:defRPr>
            </a:pPr>
            <a:r>
              <a:t>SENTINELMRO</a:t>
            </a:r>
          </a:p>
          <a:p>
            <a:pPr>
              <a:spcBef>
                <a:spcPts val="600"/>
              </a:spcBef>
              <a:defRPr sz="1550">
                <a:solidFill>
                  <a:srgbClr val="0D9488"/>
                </a:solidFill>
                <a:latin typeface="Arial"/>
              </a:defRPr>
            </a:pPr>
            <a:r>
              <a:t>Decentralized Edge-AI Diagnostics &amp; Immutable Cryptographic Audit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Prepared for the Tata Technologies InnoVent-27 Competition (Category 3.2.3.3)</a:t>
            </a:r>
          </a:p>
          <a:p>
            <a:pPr>
              <a:spcBef>
                <a:spcPts val="400"/>
              </a:spcBef>
              <a:defRPr sz="950">
                <a:solidFill>
                  <a:srgbClr val="9CA3AF"/>
                </a:solidFill>
              </a:defRPr>
            </a:pPr>
            <a:r>
              <a:t>Decentralized Prognostics | SQLite Merkle Mountain Range Ledger | Next.js 15 Command Dashboard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Arial"/>
              </a:defRPr>
            </a:pPr>
            <a:r>
              <a:t>The Problem: Centralized Cloud PHM Deficiencies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0D9488"/>
                </a:solidFill>
                <a:latin typeface="Arial"/>
              </a:defRPr>
            </a:pPr>
            <a:r>
              <a:t>Context &amp; Industry Pain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t>Legacy Architecture Bottlenecks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Bandwidth &amp; Latency: </a:t>
            </a:r>
            <a:r>
              <a:rPr sz="1100">
                <a:solidFill>
                  <a:srgbClr val="4B5563"/>
                </a:solidFill>
                <a:latin typeface="Arial"/>
              </a:rPr>
              <a:t>Uploading gigabytes of high-frequency telemetry streams to clouds causes latency and increases network overhead.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Airline Data Privacy: </a:t>
            </a:r>
            <a:r>
              <a:rPr sz="1100">
                <a:solidFill>
                  <a:srgbClr val="4B5563"/>
                </a:solidFill>
                <a:latin typeface="Arial"/>
              </a:rPr>
              <a:t>Airlines are highly protective of operational metrics; central uploading raises severe data security concerns.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t>Audit &amp; Database Vulnerabilities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Retroactive Tampering: </a:t>
            </a:r>
            <a:r>
              <a:rPr sz="1100">
                <a:solidFill>
                  <a:srgbClr val="4B5563"/>
                </a:solidFill>
                <a:latin typeface="Arial"/>
              </a:rPr>
              <a:t>Standard maintenance logs stored in centralized databases lack cryptographic seals, risking unauthorized tampering.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Non-IID Operational Bias: </a:t>
            </a:r>
            <a:r>
              <a:rPr sz="1100">
                <a:solidFill>
                  <a:srgbClr val="4B5563"/>
                </a:solidFill>
                <a:latin typeface="Arial"/>
              </a:rPr>
              <a:t>Operating conditions vary across MRO hubs. Centralized models become biased toward nominal or high-use fleets.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Arial"/>
              </a:defRPr>
            </a:pPr>
            <a:r>
              <a:t>The Solution: SentinelMRO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0D9488"/>
                </a:solidFill>
                <a:latin typeface="Arial"/>
              </a:defRPr>
            </a:pPr>
            <a:r>
              <a:t>Subsystem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3383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1. Edge-AI Diagnostics</a:t>
            </a:r>
          </a:p>
          <a:p>
            <a:pPr>
              <a:defRPr sz="1050">
                <a:solidFill>
                  <a:srgbClr val="4B5563"/>
                </a:solidFill>
              </a:defRPr>
            </a:pPr>
            <a:r>
              <a:t>Preprocesses 14 sensor channels and regresses RUL on an INT8-quantized TCN model in under 3 milliseconds.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188720"/>
            <a:ext cx="2560320" cy="3383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2. Privacy Federated Learning</a:t>
            </a:r>
          </a:p>
          <a:p>
            <a:pPr>
              <a:defRPr sz="1050">
                <a:solidFill>
                  <a:srgbClr val="4B5563"/>
                </a:solidFill>
              </a:defRPr>
            </a:pPr>
            <a:r>
              <a:t>Executes cross-station FedProx local updates and aggregates gradients with Local Differential Privacy (LDP) perturbations.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2560320" cy="3383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3. Cryptographic MMR Ledger</a:t>
            </a:r>
          </a:p>
          <a:p>
            <a:pPr>
              <a:defRPr sz="1050">
                <a:solidFill>
                  <a:srgbClr val="4B5563"/>
                </a:solidFill>
              </a:defRPr>
            </a:pPr>
            <a:r>
              <a:t>Validates Ed25519 edge signatures and logs events to an append-only Merkle Mountain Range database in SQLite.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Arial"/>
              </a:defRPr>
            </a:pPr>
            <a:r>
              <a:t>Phase 1: Quantized Causal TCN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0D9488"/>
                </a:solidFill>
                <a:latin typeface="Arial"/>
              </a:defRPr>
            </a:pPr>
            <a:r>
              <a:t>Edge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Data Preprocessing: </a:t>
            </a:r>
            <a:r>
              <a:rPr sz="1100">
                <a:solidFill>
                  <a:srgbClr val="4B5563"/>
                </a:solidFill>
                <a:latin typeface="Arial"/>
              </a:rPr>
              <a:t>Strips 7 low-variance constants, keeping 14 features scaled locally via MinMaxScaler [0, 1] over 30 cycles.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Dilated Conv1D Network: </a:t>
            </a:r>
            <a:r>
              <a:rPr sz="1100">
                <a:solidFill>
                  <a:srgbClr val="4B5563"/>
                </a:solidFill>
                <a:latin typeface="Arial"/>
              </a:rPr>
              <a:t>Causal padding ensures outputs at cycle t depend only on past cycles. Exponential dilations (1, 2, 4, 8) enable O(1) latency.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Quantization &amp; Hot Swap: </a:t>
            </a:r>
            <a:r>
              <a:rPr sz="1100">
                <a:solidFill>
                  <a:srgbClr val="4B5563"/>
                </a:solidFill>
                <a:latin typeface="Arial"/>
              </a:rPr>
              <a:t>Strips PyTorch weight norm hooks, exporting a clean graph. Dynamic INT8 quantization compresses size 4x, achieving &lt; 3ms CPU inference.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Arial"/>
              </a:defRPr>
            </a:pPr>
            <a:r>
              <a:t>Phase 2: FedProx &amp; LDP Collaborative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0D9488"/>
                </a:solidFill>
                <a:latin typeface="Arial"/>
              </a:defRPr>
            </a:pPr>
            <a:r>
              <a:t>Federated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Non-IID Operational Clusters: </a:t>
            </a:r>
            <a:r>
              <a:rPr sz="1100">
                <a:solidFill>
                  <a:srgbClr val="4B5563"/>
                </a:solidFill>
                <a:latin typeface="Arial"/>
              </a:rPr>
              <a:t>Splits the C-MAPSS dataset into 3 operational clusters: Nominal (cycles &lt;= 60), Stress-State (cycles &gt; 100), and Mixed.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FedProx Regularizer Penalty: </a:t>
            </a:r>
            <a:r>
              <a:rPr sz="1100">
                <a:solidFill>
                  <a:srgbClr val="4B5563"/>
                </a:solidFill>
                <a:latin typeface="Arial"/>
              </a:rPr>
              <a:t>Modifies local loss: (mu/2) * ||w - w_t||^2 where mu=0.01. Stabilizes optimization updates under non-IID conditions.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Local Differential Privacy: </a:t>
            </a:r>
            <a:r>
              <a:rPr sz="1100">
                <a:solidFill>
                  <a:srgbClr val="4B5563"/>
                </a:solidFill>
                <a:latin typeface="Arial"/>
              </a:rPr>
              <a:t>Adds calibrated Gaussian noise N(0, 0.001^2) to parameters before aggregation to mathematically block model inversion attacks.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Arial"/>
              </a:defRPr>
            </a:pPr>
            <a:r>
              <a:t>Phase 3: Cryptographic SQLite MMR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0D9488"/>
                </a:solidFill>
                <a:latin typeface="Arial"/>
              </a:defRPr>
            </a:pPr>
            <a:r>
              <a:t>Audit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Cryptographic Ledger Principles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Ed25519 Gateway Handshake: </a:t>
            </a:r>
            <a:r>
              <a:rPr sz="1100">
                <a:solidFill>
                  <a:srgbClr val="4B5563"/>
                </a:solidFill>
                <a:latin typeface="Arial"/>
              </a:rPr>
              <a:t>Every edge submission is signed by the station's private key. Gateway checks signatures in headers using public keys.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Merkle Mountain Range (MMR): </a:t>
            </a:r>
            <a:r>
              <a:rPr sz="1100">
                <a:solidFill>
                  <a:srgbClr val="4B5563"/>
                </a:solidFill>
                <a:latin typeface="Arial"/>
              </a:rPr>
              <a:t>Appends nodes to a binary tree in post-order flat indexing. Enables O(log n) inclusion proofs and rapid integrity verification checks.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Tamper Backdoor Demonstration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Injecting Corrupted Payload: </a:t>
            </a:r>
            <a:r>
              <a:rPr sz="1100">
                <a:solidFill>
                  <a:srgbClr val="4B5563"/>
                </a:solidFill>
                <a:latin typeface="Arial"/>
              </a:rPr>
              <a:t>Updates SQLite columns directly (e.g. component_id='TAMPERED-ENG') but leaves the MMR nodes unchanged.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Verification Alert: </a:t>
            </a:r>
            <a:r>
              <a:rPr sz="1100">
                <a:solidFill>
                  <a:srgbClr val="4B5563"/>
                </a:solidFill>
                <a:latin typeface="Arial"/>
              </a:rPr>
              <a:t>Recomputing leaf hashes during audits reveals a discrepancy with stored node hashes. The UI validation alarm instantly flashes red.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Arial"/>
              </a:defRPr>
            </a:pPr>
            <a:r>
              <a:t>Phase 4: Next.js 15 Command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0D9488"/>
                </a:solidFill>
                <a:latin typeface="Arial"/>
              </a:defRPr>
            </a:pPr>
            <a:r>
              <a:t>User Interface &amp;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Premium Industrial Theme: </a:t>
            </a:r>
            <a:r>
              <a:rPr sz="1100">
                <a:solidFill>
                  <a:srgbClr val="4B5563"/>
                </a:solidFill>
                <a:latin typeface="Arial"/>
              </a:rPr>
              <a:t>Designed on zinc-950/zinc-50 with responsive sidebar navigation, modern typography ( Outfit/Inter), and micro-animations.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Real-time Telemetry curves: </a:t>
            </a:r>
            <a:r>
              <a:rPr sz="1100">
                <a:solidFill>
                  <a:srgbClr val="4B5563"/>
                </a:solidFill>
                <a:latin typeface="Arial"/>
              </a:rPr>
              <a:t>Visualizes TCN RUL outputs alongside core speed temperature and bypass ratio trends using high-frequency Recharts curves.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Auditing Control Console: </a:t>
            </a:r>
            <a:r>
              <a:rPr sz="1100">
                <a:solidFill>
                  <a:srgbClr val="4B5563"/>
                </a:solidFill>
                <a:latin typeface="Arial"/>
              </a:rPr>
              <a:t>Provides buttons to Verify Ecosystem Integrity or Simulate Malicious Database Injection. Alerts flash green on success and red on mismatch.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Arial"/>
              </a:defRPr>
            </a:pPr>
            <a:r>
              <a:t>Worked Trace Example: Maintenance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0D9488"/>
                </a:solidFill>
                <a:latin typeface="Arial"/>
              </a:defRPr>
            </a:pPr>
            <a:r>
              <a:t>Ecosystem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1. Logging &amp; Signing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Generate Payload: </a:t>
            </a:r>
            <a:r>
              <a:rPr sz="1100">
                <a:solidFill>
                  <a:srgbClr val="4B5563"/>
                </a:solidFill>
                <a:latin typeface="Arial"/>
              </a:rPr>
              <a:t>Edge node compiles: Timestamp|Component_ID|Action|Tech_ID|Health.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Ed25519 Signature: </a:t>
            </a:r>
            <a:r>
              <a:rPr sz="1100">
                <a:solidFill>
                  <a:srgbClr val="4B5563"/>
                </a:solidFill>
                <a:latin typeface="Arial"/>
              </a:rPr>
              <a:t>Signs payload using private key. Submitted in header to API gateway.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Merkle Leaf Append: </a:t>
            </a:r>
            <a:r>
              <a:rPr sz="1100">
                <a:solidFill>
                  <a:srgbClr val="4B5563"/>
                </a:solidFill>
                <a:latin typeface="Arial"/>
              </a:rPr>
              <a:t>Gateway verifies signature, writes row, and appends leaf hash: '5f8a0dc4f67c...' to SQLite.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2. Tampering &amp; Alerting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Malicious Modification: </a:t>
            </a:r>
            <a:r>
              <a:rPr sz="1100">
                <a:solidFill>
                  <a:srgbClr val="4B5563"/>
                </a:solidFill>
                <a:latin typeface="Arial"/>
              </a:rPr>
              <a:t>Intruder updates SQLite directly (e.g. altering the component_id to 'TAMPERED-ENG').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Hash Discrepancy: </a:t>
            </a:r>
            <a:r>
              <a:rPr sz="1100">
                <a:solidFill>
                  <a:srgbClr val="4B5563"/>
                </a:solidFill>
                <a:latin typeface="Arial"/>
              </a:rPr>
              <a:t>Auditor re-computes Leaf 1 hash, producing '7a11c8...', which mismatches the stored '5f8a0dc4f67c...' value.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Ecosystem Integrity Alarm: </a:t>
            </a:r>
            <a:r>
              <a:rPr sz="1100">
                <a:solidFill>
                  <a:srgbClr val="4B5563"/>
                </a:solidFill>
                <a:latin typeface="Arial"/>
              </a:rPr>
              <a:t>Mismatch invalidates the MMR root. The command console validation indicator flashes red and displays an alert.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Arial"/>
              </a:defRPr>
            </a:pPr>
            <a:r>
              <a:t>Conclusion: SentinelMRO InnoVent-27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0D9488"/>
                </a:solidFill>
                <a:latin typeface="Arial"/>
              </a:defRPr>
            </a:pPr>
            <a:r>
              <a:t>Competitive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Edge AI Latency: </a:t>
            </a:r>
            <a:r>
              <a:rPr sz="1100">
                <a:solidFill>
                  <a:srgbClr val="4B5563"/>
                </a:solidFill>
                <a:latin typeface="Arial"/>
              </a:rPr>
              <a:t>Model compiled and quantized dynamically, performing edge prediction on CPU in under 3ms.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Collaborative FedProx: </a:t>
            </a:r>
            <a:r>
              <a:rPr sz="1100">
                <a:solidFill>
                  <a:srgbClr val="4B5563"/>
                </a:solidFill>
                <a:latin typeface="Arial"/>
              </a:rPr>
              <a:t>Federated loop stabilizes updates under non-IID conditions while LDP noise aggregation secures gradients.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Cryptographic Trust: </a:t>
            </a:r>
            <a:r>
              <a:rPr sz="1100">
                <a:solidFill>
                  <a:srgbClr val="4B5563"/>
                </a:solidFill>
                <a:latin typeface="Arial"/>
              </a:rPr>
              <a:t>SQLite-backed MMR append, verify, and backdoor tampering functions fully complete.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200">
                <a:solidFill>
                  <a:srgbClr val="1F2937"/>
                </a:solidFill>
                <a:latin typeface="Arial"/>
              </a:rPr>
              <a:t>• Next.js 15 command console: </a:t>
            </a:r>
            <a:r>
              <a:rPr sz="1100">
                <a:solidFill>
                  <a:srgbClr val="4B5563"/>
                </a:solidFill>
                <a:latin typeface="Arial"/>
              </a:rPr>
              <a:t>Command console provides high-fidelity, real-time visual control room ready for live demonstration.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